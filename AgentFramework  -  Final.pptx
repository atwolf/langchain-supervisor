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615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We Built the Agent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621792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097280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disconnected chatbot UIs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87752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2587752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109728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adoption as teams struggle to reach developer communities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626864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626864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1097280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36592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delays from high support SLAs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665976" y="987552"/>
            <a:ext cx="1920240" cy="804672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6665976" y="987552"/>
            <a:ext cx="36576" cy="80467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109728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75704" y="138988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solution despite shared needs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548640" y="19385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1828800" y="19385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current agents' service teams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548640" y="2176272"/>
            <a:ext cx="8046720" cy="932688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2304288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97280" y="22311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632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~200</a:t>
            </a: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tickets/wk</a:t>
            </a:r>
            <a:endParaRPr lang="en-US" sz="2800" dirty="0"/>
          </a:p>
        </p:txBody>
      </p:sp>
      <p:sp>
        <p:nvSpPr>
          <p:cNvPr id="27" name="Text 20"/>
          <p:cNvSpPr/>
          <p:nvPr/>
        </p:nvSpPr>
        <p:spPr>
          <a:xfrm>
            <a:off x="1097280" y="2615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flowing through copilot support alone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3319272" y="2286000"/>
            <a:ext cx="0" cy="713232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2152" y="2304288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776472" y="22311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632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~14</a:t>
            </a: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hrs/wk</a:t>
            </a:r>
            <a:endParaRPr lang="en-US" sz="2800" dirty="0"/>
          </a:p>
        </p:txBody>
      </p:sp>
      <p:sp>
        <p:nvSpPr>
          <p:cNvPr id="31" name="Text 23"/>
          <p:cNvSpPr/>
          <p:nvPr/>
        </p:nvSpPr>
        <p:spPr>
          <a:xfrm>
            <a:off x="3776472" y="2615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service team on manual support</a:t>
            </a:r>
            <a:endParaRPr lang="en-US" sz="800" dirty="0"/>
          </a:p>
        </p:txBody>
      </p:sp>
      <p:sp>
        <p:nvSpPr>
          <p:cNvPr id="32" name="Shape 24"/>
          <p:cNvSpPr/>
          <p:nvPr/>
        </p:nvSpPr>
        <p:spPr>
          <a:xfrm>
            <a:off x="5998464" y="2286000"/>
            <a:ext cx="0" cy="713232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1344" y="2304288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455664" y="22311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6323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2800" dirty="0"/>
          </a:p>
        </p:txBody>
      </p:sp>
      <p:sp>
        <p:nvSpPr>
          <p:cNvPr id="35" name="Text 26"/>
          <p:cNvSpPr/>
          <p:nvPr/>
        </p:nvSpPr>
        <p:spPr>
          <a:xfrm>
            <a:off x="6455664" y="2615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support volume is routine, yet still requires human response</a:t>
            </a:r>
            <a:endParaRPr lang="en-US" sz="800" dirty="0"/>
          </a:p>
        </p:txBody>
      </p:sp>
      <p:sp>
        <p:nvSpPr>
          <p:cNvPr id="36" name="Text 27"/>
          <p:cNvSpPr/>
          <p:nvPr/>
        </p:nvSpPr>
        <p:spPr>
          <a:xfrm>
            <a:off x="548640" y="32552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800" dirty="0"/>
          </a:p>
        </p:txBody>
      </p:sp>
      <p:sp>
        <p:nvSpPr>
          <p:cNvPr id="37" name="Shape 28"/>
          <p:cNvSpPr/>
          <p:nvPr/>
        </p:nvSpPr>
        <p:spPr>
          <a:xfrm>
            <a:off x="548640" y="3493008"/>
            <a:ext cx="2560320" cy="105156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548640" y="4507992"/>
            <a:ext cx="256032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" y="3639312"/>
            <a:ext cx="274320" cy="27432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1060704" y="362102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Framework</a:t>
            </a:r>
            <a:endParaRPr lang="en-US" sz="1100" dirty="0"/>
          </a:p>
        </p:txBody>
      </p:sp>
      <p:sp>
        <p:nvSpPr>
          <p:cNvPr id="41" name="Text 31"/>
          <p:cNvSpPr/>
          <p:nvPr/>
        </p:nvSpPr>
        <p:spPr>
          <a:xfrm>
            <a:off x="1060704" y="395020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unified framework replacing fragmented chatbot solutions</a:t>
            </a:r>
            <a:endParaRPr lang="en-US" sz="850" dirty="0"/>
          </a:p>
        </p:txBody>
      </p:sp>
      <p:sp>
        <p:nvSpPr>
          <p:cNvPr id="42" name="Shape 32"/>
          <p:cNvSpPr/>
          <p:nvPr/>
        </p:nvSpPr>
        <p:spPr>
          <a:xfrm>
            <a:off x="3246120" y="3493008"/>
            <a:ext cx="2560320" cy="105156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33"/>
          <p:cNvSpPr/>
          <p:nvPr/>
        </p:nvSpPr>
        <p:spPr>
          <a:xfrm>
            <a:off x="3246120" y="4507992"/>
            <a:ext cx="256032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92424" y="3639312"/>
            <a:ext cx="274320" cy="27432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3758184" y="362102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Agent</a:t>
            </a:r>
            <a:endParaRPr lang="en-US" sz="1100" dirty="0"/>
          </a:p>
        </p:txBody>
      </p:sp>
      <p:sp>
        <p:nvSpPr>
          <p:cNvPr id="46" name="Text 35"/>
          <p:cNvSpPr/>
          <p:nvPr/>
        </p:nvSpPr>
        <p:spPr>
          <a:xfrm>
            <a:off x="3758184" y="395020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Automates routine support by routing queries to specialized sub-agents</a:t>
            </a:r>
            <a:endParaRPr lang="en-US" sz="850" dirty="0"/>
          </a:p>
        </p:txBody>
      </p:sp>
      <p:sp>
        <p:nvSpPr>
          <p:cNvPr id="47" name="Shape 36"/>
          <p:cNvSpPr/>
          <p:nvPr/>
        </p:nvSpPr>
        <p:spPr>
          <a:xfrm>
            <a:off x="5943600" y="3493008"/>
            <a:ext cx="2560320" cy="105156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37"/>
          <p:cNvSpPr/>
          <p:nvPr/>
        </p:nvSpPr>
        <p:spPr>
          <a:xfrm>
            <a:off x="5943600" y="4507992"/>
            <a:ext cx="256032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9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9904" y="3639312"/>
            <a:ext cx="274320" cy="274320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6455664" y="3621024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Domain Coverage</a:t>
            </a:r>
            <a:endParaRPr lang="en-US" sz="1100" dirty="0"/>
          </a:p>
        </p:txBody>
      </p:sp>
      <p:sp>
        <p:nvSpPr>
          <p:cNvPr id="51" name="Text 39"/>
          <p:cNvSpPr/>
          <p:nvPr/>
        </p:nvSpPr>
        <p:spPr>
          <a:xfrm>
            <a:off x="6455664" y="395020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developers where they work; LB Services live, DCMS + 13 use cases active</a:t>
            </a:r>
            <a:endParaRPr lang="en-US" sz="850" dirty="0"/>
          </a:p>
        </p:txBody>
      </p:sp>
      <p:sp>
        <p:nvSpPr>
          <p:cNvPr id="52" name="Text 40"/>
          <p:cNvSpPr/>
          <p:nvPr/>
        </p:nvSpPr>
        <p:spPr>
          <a:xfrm>
            <a:off x="548640" y="473659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trigger agents directly from their development environment</a:t>
            </a:r>
            <a:endParaRPr lang="en-US" sz="800" dirty="0"/>
          </a:p>
        </p:txBody>
      </p:sp>
      <p:sp>
        <p:nvSpPr>
          <p:cNvPr id="53" name="Shape 41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High-Level Architecture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585216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0" y="219456"/>
            <a:ext cx="91440" cy="91440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986016" y="1828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Team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7955280" y="219456"/>
            <a:ext cx="91440" cy="9144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83296" y="1828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Providers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365760" y="713232"/>
            <a:ext cx="1554480" cy="73152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713232"/>
            <a:ext cx="1554480" cy="2743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04672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76656" y="786384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LAYER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475488" y="102412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IDP Web UI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475488" y="1243584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Agent Registry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194560" y="713232"/>
            <a:ext cx="2560320" cy="1005840"/>
          </a:xfrm>
          <a:prstGeom prst="rect">
            <a:avLst/>
          </a:prstGeom>
          <a:solidFill>
            <a:srgbClr val="FAFAFA"/>
          </a:solidFill>
          <a:ln w="12700">
            <a:solidFill>
              <a:srgbClr val="D71E2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2194560" y="713232"/>
            <a:ext cx="2560320" cy="41148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804672"/>
            <a:ext cx="182880" cy="1828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505456" y="78638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ORCHESTRATOR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2304288" y="1024128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Supervisor Agent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2304288" y="1243584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Query routing &amp; sub-agent dispatch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2304288" y="1463040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Instrumentation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5029200" y="713232"/>
            <a:ext cx="3703320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5029200" y="713232"/>
            <a:ext cx="3703320" cy="27432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804672"/>
            <a:ext cx="182880" cy="1828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786384"/>
            <a:ext cx="3300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MCPS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5138928" y="1024128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Domain-specific tools managed by service teams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5138928" y="1243584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Database access, application APIs, documentation</a:t>
            </a:r>
            <a:endParaRPr lang="en-US" sz="750" dirty="0"/>
          </a:p>
        </p:txBody>
      </p:sp>
      <p:sp>
        <p:nvSpPr>
          <p:cNvPr id="28" name="Text 23"/>
          <p:cNvSpPr/>
          <p:nvPr/>
        </p:nvSpPr>
        <p:spPr>
          <a:xfrm>
            <a:off x="5138928" y="1463040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Each MCP implements predefined auth patterns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365760" y="1975104"/>
            <a:ext cx="1554480" cy="694944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5"/>
          <p:cNvSpPr/>
          <p:nvPr/>
        </p:nvSpPr>
        <p:spPr>
          <a:xfrm>
            <a:off x="365760" y="1975104"/>
            <a:ext cx="1554480" cy="27432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066544"/>
            <a:ext cx="182880" cy="1828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76656" y="2048256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700" dirty="0"/>
          </a:p>
        </p:txBody>
      </p:sp>
      <p:sp>
        <p:nvSpPr>
          <p:cNvPr id="33" name="Text 27"/>
          <p:cNvSpPr/>
          <p:nvPr/>
        </p:nvSpPr>
        <p:spPr>
          <a:xfrm>
            <a:off x="475488" y="2286000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Ingestion Service</a:t>
            </a:r>
            <a:endParaRPr lang="en-US" sz="750" dirty="0"/>
          </a:p>
        </p:txBody>
      </p:sp>
      <p:sp>
        <p:nvSpPr>
          <p:cNvPr id="34" name="Text 28"/>
          <p:cNvSpPr/>
          <p:nvPr/>
        </p:nvSpPr>
        <p:spPr>
          <a:xfrm>
            <a:off x="475488" y="2505456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Vector Store</a:t>
            </a:r>
            <a:endParaRPr lang="en-US" sz="750" dirty="0"/>
          </a:p>
        </p:txBody>
      </p:sp>
      <p:sp>
        <p:nvSpPr>
          <p:cNvPr id="35" name="Shape 29"/>
          <p:cNvSpPr/>
          <p:nvPr/>
        </p:nvSpPr>
        <p:spPr>
          <a:xfrm>
            <a:off x="2651760" y="2066544"/>
            <a:ext cx="1645920" cy="420624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2651760" y="2066544"/>
            <a:ext cx="1645920" cy="2743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2157984"/>
            <a:ext cx="164592" cy="16459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2944368" y="2121408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GATEWAY</a:t>
            </a:r>
            <a:endParaRPr lang="en-US" sz="700" dirty="0"/>
          </a:p>
        </p:txBody>
      </p:sp>
      <p:sp>
        <p:nvSpPr>
          <p:cNvPr id="39" name="Text 32"/>
          <p:cNvSpPr/>
          <p:nvPr/>
        </p:nvSpPr>
        <p:spPr>
          <a:xfrm>
            <a:off x="2944368" y="2286000"/>
            <a:ext cx="1261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Tachyon</a:t>
            </a:r>
            <a:endParaRPr lang="en-US" sz="700" dirty="0"/>
          </a:p>
        </p:txBody>
      </p:sp>
      <p:sp>
        <p:nvSpPr>
          <p:cNvPr id="40" name="Shape 33"/>
          <p:cNvSpPr/>
          <p:nvPr/>
        </p:nvSpPr>
        <p:spPr>
          <a:xfrm>
            <a:off x="5029200" y="1975104"/>
            <a:ext cx="3703320" cy="694944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5029200" y="1975104"/>
            <a:ext cx="3703320" cy="27432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2066544"/>
            <a:ext cx="182880" cy="1828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340096" y="2048256"/>
            <a:ext cx="3300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700" dirty="0"/>
          </a:p>
        </p:txBody>
      </p:sp>
      <p:sp>
        <p:nvSpPr>
          <p:cNvPr id="44" name="Text 36"/>
          <p:cNvSpPr/>
          <p:nvPr/>
        </p:nvSpPr>
        <p:spPr>
          <a:xfrm>
            <a:off x="5138928" y="2286000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Quality &amp; hallucination evaluation</a:t>
            </a:r>
            <a:endParaRPr lang="en-US" sz="750" dirty="0"/>
          </a:p>
        </p:txBody>
      </p:sp>
      <p:sp>
        <p:nvSpPr>
          <p:cNvPr id="45" name="Text 37"/>
          <p:cNvSpPr/>
          <p:nvPr/>
        </p:nvSpPr>
        <p:spPr>
          <a:xfrm>
            <a:off x="5138928" y="2505456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Usage tracking &amp; cost visibility</a:t>
            </a:r>
            <a:endParaRPr lang="en-US" sz="750" dirty="0"/>
          </a:p>
        </p:txBody>
      </p:sp>
      <p:sp>
        <p:nvSpPr>
          <p:cNvPr id="46" name="Shape 38"/>
          <p:cNvSpPr/>
          <p:nvPr/>
        </p:nvSpPr>
        <p:spPr>
          <a:xfrm>
            <a:off x="1920240" y="1078992"/>
            <a:ext cx="274320" cy="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39"/>
          <p:cNvSpPr/>
          <p:nvPr/>
        </p:nvSpPr>
        <p:spPr>
          <a:xfrm>
            <a:off x="4754880" y="1216152"/>
            <a:ext cx="274320" cy="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0"/>
          <p:cNvSpPr/>
          <p:nvPr/>
        </p:nvSpPr>
        <p:spPr>
          <a:xfrm>
            <a:off x="3474720" y="1719072"/>
            <a:ext cx="0" cy="347472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1"/>
          <p:cNvSpPr/>
          <p:nvPr/>
        </p:nvSpPr>
        <p:spPr>
          <a:xfrm>
            <a:off x="2194560" y="1719072"/>
            <a:ext cx="0" cy="256032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2"/>
          <p:cNvSpPr/>
          <p:nvPr/>
        </p:nvSpPr>
        <p:spPr>
          <a:xfrm>
            <a:off x="4754880" y="1719072"/>
            <a:ext cx="274320" cy="256032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3"/>
          <p:cNvSpPr/>
          <p:nvPr/>
        </p:nvSpPr>
        <p:spPr>
          <a:xfrm>
            <a:off x="365760" y="2889504"/>
            <a:ext cx="8366760" cy="841248"/>
          </a:xfrm>
          <a:prstGeom prst="rect">
            <a:avLst/>
          </a:prstGeom>
          <a:solidFill>
            <a:srgbClr val="FFF8E1"/>
          </a:solidFill>
          <a:ln w="12700">
            <a:solidFill>
              <a:srgbClr val="F57F17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44"/>
          <p:cNvSpPr/>
          <p:nvPr/>
        </p:nvSpPr>
        <p:spPr>
          <a:xfrm>
            <a:off x="365760" y="2889504"/>
            <a:ext cx="45720" cy="841248"/>
          </a:xfrm>
          <a:prstGeom prst="rect">
            <a:avLst/>
          </a:prstGeom>
          <a:solidFill>
            <a:srgbClr val="F57F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45"/>
          <p:cNvSpPr/>
          <p:nvPr/>
        </p:nvSpPr>
        <p:spPr>
          <a:xfrm>
            <a:off x="548640" y="294436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 &amp;  AUTH  FLOW</a:t>
            </a:r>
            <a:endParaRPr lang="en-US" sz="700" dirty="0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" y="3273552"/>
            <a:ext cx="219456" cy="219456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42976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600" dirty="0"/>
          </a:p>
        </p:txBody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" y="3273552"/>
            <a:ext cx="219456" cy="219456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138988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UI</a:t>
            </a:r>
            <a:endParaRPr lang="en-US" sz="600" dirty="0"/>
          </a:p>
        </p:txBody>
      </p:sp>
      <p:pic>
        <p:nvPicPr>
          <p:cNvPr id="5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14600" y="3273552"/>
            <a:ext cx="219456" cy="219456"/>
          </a:xfrm>
          <a:prstGeom prst="rect">
            <a:avLst/>
          </a:prstGeom>
        </p:spPr>
      </p:pic>
      <p:sp>
        <p:nvSpPr>
          <p:cNvPr id="59" name="Text 48"/>
          <p:cNvSpPr/>
          <p:nvPr/>
        </p:nvSpPr>
        <p:spPr>
          <a:xfrm>
            <a:off x="235000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Ping</a:t>
            </a:r>
            <a:endParaRPr lang="en-US" sz="600" dirty="0"/>
          </a:p>
        </p:txBody>
      </p:sp>
      <p:pic>
        <p:nvPicPr>
          <p:cNvPr id="6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74720" y="3273552"/>
            <a:ext cx="219456" cy="219456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331012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Client</a:t>
            </a:r>
            <a:endParaRPr lang="en-US" sz="600" dirty="0"/>
          </a:p>
        </p:txBody>
      </p:sp>
      <p:sp>
        <p:nvSpPr>
          <p:cNvPr id="62" name="Shape 50"/>
          <p:cNvSpPr/>
          <p:nvPr/>
        </p:nvSpPr>
        <p:spPr>
          <a:xfrm>
            <a:off x="868680" y="3364992"/>
            <a:ext cx="63093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51"/>
          <p:cNvSpPr/>
          <p:nvPr/>
        </p:nvSpPr>
        <p:spPr>
          <a:xfrm>
            <a:off x="1828800" y="3364992"/>
            <a:ext cx="63093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52"/>
          <p:cNvSpPr/>
          <p:nvPr/>
        </p:nvSpPr>
        <p:spPr>
          <a:xfrm>
            <a:off x="2788920" y="3364992"/>
            <a:ext cx="63093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53"/>
          <p:cNvSpPr/>
          <p:nvPr/>
        </p:nvSpPr>
        <p:spPr>
          <a:xfrm>
            <a:off x="4315968" y="3145536"/>
            <a:ext cx="0" cy="493776"/>
          </a:xfrm>
          <a:prstGeom prst="line">
            <a:avLst/>
          </a:prstGeom>
          <a:noFill/>
          <a:ln w="5080">
            <a:solidFill>
              <a:srgbClr val="F57F1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4"/>
          <p:cNvSpPr/>
          <p:nvPr/>
        </p:nvSpPr>
        <p:spPr>
          <a:xfrm>
            <a:off x="4526280" y="294436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AGENT-SIDE  IDENTITY</a:t>
            </a:r>
            <a:endParaRPr lang="en-US" sz="700" dirty="0"/>
          </a:p>
        </p:txBody>
      </p:sp>
      <p:pic>
        <p:nvPicPr>
          <p:cNvPr id="67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273552"/>
            <a:ext cx="219456" cy="219456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440740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60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77840" y="3273552"/>
            <a:ext cx="219456" cy="219456"/>
          </a:xfrm>
          <a:prstGeom prst="rect">
            <a:avLst/>
          </a:prstGeom>
        </p:spPr>
      </p:pic>
      <p:sp>
        <p:nvSpPr>
          <p:cNvPr id="70" name="Text 56"/>
          <p:cNvSpPr/>
          <p:nvPr/>
        </p:nvSpPr>
        <p:spPr>
          <a:xfrm>
            <a:off x="541324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600" dirty="0"/>
          </a:p>
        </p:txBody>
      </p:sp>
      <p:pic>
        <p:nvPicPr>
          <p:cNvPr id="71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3680" y="3273552"/>
            <a:ext cx="219456" cy="219456"/>
          </a:xfrm>
          <a:prstGeom prst="rect">
            <a:avLst/>
          </a:prstGeom>
        </p:spPr>
      </p:pic>
      <p:sp>
        <p:nvSpPr>
          <p:cNvPr id="72" name="Text 57"/>
          <p:cNvSpPr/>
          <p:nvPr/>
        </p:nvSpPr>
        <p:spPr>
          <a:xfrm>
            <a:off x="641908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Pattern</a:t>
            </a:r>
            <a:endParaRPr lang="en-US" sz="600" dirty="0"/>
          </a:p>
        </p:txBody>
      </p:sp>
      <p:pic>
        <p:nvPicPr>
          <p:cNvPr id="73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3273552"/>
            <a:ext cx="219456" cy="219456"/>
          </a:xfrm>
          <a:prstGeom prst="rect">
            <a:avLst/>
          </a:prstGeom>
        </p:spPr>
      </p:pic>
      <p:sp>
        <p:nvSpPr>
          <p:cNvPr id="74" name="Text 58"/>
          <p:cNvSpPr/>
          <p:nvPr/>
        </p:nvSpPr>
        <p:spPr>
          <a:xfrm>
            <a:off x="7424928" y="35112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600" dirty="0"/>
          </a:p>
        </p:txBody>
      </p:sp>
      <p:sp>
        <p:nvSpPr>
          <p:cNvPr id="75" name="Shape 59"/>
          <p:cNvSpPr/>
          <p:nvPr/>
        </p:nvSpPr>
        <p:spPr>
          <a:xfrm>
            <a:off x="4846320" y="3364992"/>
            <a:ext cx="67665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60"/>
          <p:cNvSpPr/>
          <p:nvPr/>
        </p:nvSpPr>
        <p:spPr>
          <a:xfrm>
            <a:off x="5852160" y="3364992"/>
            <a:ext cx="67665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61"/>
          <p:cNvSpPr/>
          <p:nvPr/>
        </p:nvSpPr>
        <p:spPr>
          <a:xfrm>
            <a:off x="6858000" y="3364992"/>
            <a:ext cx="676656" cy="0"/>
          </a:xfrm>
          <a:prstGeom prst="line">
            <a:avLst/>
          </a:prstGeom>
          <a:noFill/>
          <a:ln w="15240">
            <a:solidFill>
              <a:srgbClr val="F57F1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62"/>
          <p:cNvSpPr/>
          <p:nvPr/>
        </p:nvSpPr>
        <p:spPr>
          <a:xfrm>
            <a:off x="365760" y="3968496"/>
            <a:ext cx="8366760" cy="347472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63"/>
          <p:cNvSpPr/>
          <p:nvPr/>
        </p:nvSpPr>
        <p:spPr>
          <a:xfrm>
            <a:off x="548640" y="396849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PRODUCTION:  </a:t>
            </a:r>
            <a:r>
              <a:rPr lang="en-US" sz="800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Loadbalancer Agent (LB FAQs)  |  Orchestra Knowledge Agent (Copilot Proxies, CI/CD, Framework)</a:t>
            </a:r>
            <a:endParaRPr lang="en-US" sz="800" dirty="0"/>
          </a:p>
        </p:txBody>
      </p:sp>
      <p:sp>
        <p:nvSpPr>
          <p:cNvPr id="80" name="Shape 6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A2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Roadmap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585216"/>
            <a:ext cx="804672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91640" y="731520"/>
            <a:ext cx="2304288" cy="3200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822960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39112" y="804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039112" y="1005840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capabilities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69080" y="731520"/>
            <a:ext cx="2304288" cy="32004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82296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16552" y="804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416552" y="1005840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priorities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6446520" y="731520"/>
            <a:ext cx="2304288" cy="32004"/>
          </a:xfrm>
          <a:prstGeom prst="rect">
            <a:avLst/>
          </a:prstGeom>
          <a:solidFill>
            <a:srgbClr val="455A6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822960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793992" y="80467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793992" y="1005840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457200" y="1207008"/>
            <a:ext cx="8293608" cy="0"/>
          </a:xfrm>
          <a:prstGeom prst="line">
            <a:avLst/>
          </a:prstGeom>
          <a:noFill/>
          <a:ln w="9525">
            <a:solidFill>
              <a:srgbClr val="B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457200" y="1243584"/>
            <a:ext cx="8293608" cy="56692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530352" y="1243584"/>
            <a:ext cx="1042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</a:t>
            </a:r>
            <a:endParaRPr lang="en-US" sz="650" dirty="0"/>
          </a:p>
        </p:txBody>
      </p:sp>
      <p:sp>
        <p:nvSpPr>
          <p:cNvPr id="20" name="Shape 15"/>
          <p:cNvSpPr/>
          <p:nvPr/>
        </p:nvSpPr>
        <p:spPr>
          <a:xfrm>
            <a:off x="1655064" y="1243584"/>
            <a:ext cx="0" cy="566928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746504" y="1316736"/>
            <a:ext cx="217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Enriched UI with source citations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Image upload support</a:t>
            </a:r>
            <a:endParaRPr lang="en-US" sz="750" dirty="0"/>
          </a:p>
        </p:txBody>
      </p:sp>
      <p:sp>
        <p:nvSpPr>
          <p:cNvPr id="22" name="Text 17"/>
          <p:cNvSpPr/>
          <p:nvPr/>
        </p:nvSpPr>
        <p:spPr>
          <a:xfrm>
            <a:off x="4123944" y="1316736"/>
            <a:ext cx="217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SNS support through IDP Chat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6501384" y="1316736"/>
            <a:ext cx="217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Conversation history &amp; resume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57200" y="1810512"/>
            <a:ext cx="8293608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530352" y="1810512"/>
            <a:ext cx="10424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PROVIDER</a:t>
            </a:r>
            <a:endParaRPr lang="en-US" sz="650" dirty="0"/>
          </a:p>
        </p:txBody>
      </p:sp>
      <p:sp>
        <p:nvSpPr>
          <p:cNvPr id="26" name="Shape 21"/>
          <p:cNvSpPr/>
          <p:nvPr/>
        </p:nvSpPr>
        <p:spPr>
          <a:xfrm>
            <a:off x="1655064" y="1810512"/>
            <a:ext cx="0" cy="768096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2"/>
          <p:cNvSpPr/>
          <p:nvPr/>
        </p:nvSpPr>
        <p:spPr>
          <a:xfrm>
            <a:off x="1746504" y="188366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Confluence document ingestion &amp; search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Simplified agent onboarding workflow</a:t>
            </a:r>
            <a:endParaRPr lang="en-US" sz="750" dirty="0"/>
          </a:p>
        </p:txBody>
      </p:sp>
      <p:sp>
        <p:nvSpPr>
          <p:cNvPr id="28" name="Text 23"/>
          <p:cNvSpPr/>
          <p:nvPr/>
        </p:nvSpPr>
        <p:spPr>
          <a:xfrm>
            <a:off x="4123944" y="188366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OIDC / RBAC authentication for MCPs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Self-service onboarding refinements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Observability dashboards for service providers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6501384" y="1883664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Self-service portal for service providers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Multi-format ingestion (SharePoint, PDF) via ECM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457200" y="2578608"/>
            <a:ext cx="8293608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457200" y="2578608"/>
            <a:ext cx="8293608" cy="96926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530352" y="2578608"/>
            <a:ext cx="104241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kern="0" spc="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FRAMEWORK</a:t>
            </a:r>
            <a:endParaRPr lang="en-US" sz="650" dirty="0"/>
          </a:p>
        </p:txBody>
      </p:sp>
      <p:sp>
        <p:nvSpPr>
          <p:cNvPr id="33" name="Shape 28"/>
          <p:cNvSpPr/>
          <p:nvPr/>
        </p:nvSpPr>
        <p:spPr>
          <a:xfrm>
            <a:off x="1655064" y="2578608"/>
            <a:ext cx="0" cy="969264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1746504" y="2651760"/>
            <a:ext cx="21762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Supervisor Agent orchestration &amp; routing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LB FAQs Agent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DevX Agent (Copilot, CI/CD, Framework)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DCMS Agent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4123944" y="2651760"/>
            <a:ext cx="21762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 Evaluation Pipeline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Subagent-level metrics dashboard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Session &amp; user context-aware agents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 Observability Framework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6501384" y="2651760"/>
            <a:ext cx="21762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Action-enabled agents (write-back capabilities)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Cross-agent knowledge sharing</a:t>
            </a:r>
            <a:endParaRPr lang="en-US" sz="7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Prompt library &amp; reusable agent templates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4032504" y="731520"/>
            <a:ext cx="0" cy="283464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6409944" y="731520"/>
            <a:ext cx="0" cy="283464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530352" y="3712464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65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</a:t>
            </a:r>
            <a:endParaRPr lang="en-US" sz="6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5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6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50" b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650" b="1" i="1" kern="0" spc="20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</a:p>
          <a:p>
            <a:pPr marL="0" indent="0">
              <a:lnSpc>
                <a:spcPct val="120000"/>
              </a:lnSpc>
              <a:buNone/>
            </a:pPr>
            <a:endParaRPr lang="en-US" sz="650" b="1" kern="0" spc="200" dirty="0">
              <a:solidFill>
                <a:srgbClr val="00897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650" dirty="0"/>
          </a:p>
        </p:txBody>
      </p:sp>
      <p:sp>
        <p:nvSpPr>
          <p:cNvPr id="40" name="Shape 35"/>
          <p:cNvSpPr/>
          <p:nvPr/>
        </p:nvSpPr>
        <p:spPr>
          <a:xfrm>
            <a:off x="1655064" y="3694176"/>
            <a:ext cx="0" cy="749808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6"/>
          <p:cNvSpPr/>
          <p:nvPr/>
        </p:nvSpPr>
        <p:spPr>
          <a:xfrm>
            <a:off x="1691640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37"/>
          <p:cNvSpPr/>
          <p:nvPr/>
        </p:nvSpPr>
        <p:spPr>
          <a:xfrm>
            <a:off x="1691640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1783080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DCMS NFR &amp; Migration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3479292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0"/>
          <p:cNvSpPr/>
          <p:nvPr/>
        </p:nvSpPr>
        <p:spPr>
          <a:xfrm>
            <a:off x="3479292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3570732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Service</a:t>
            </a:r>
            <a:endParaRPr lang="en-US" sz="700" dirty="0"/>
          </a:p>
        </p:txBody>
      </p:sp>
      <p:sp>
        <p:nvSpPr>
          <p:cNvPr id="47" name="Shape 42"/>
          <p:cNvSpPr/>
          <p:nvPr/>
        </p:nvSpPr>
        <p:spPr>
          <a:xfrm>
            <a:off x="5266944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3"/>
          <p:cNvSpPr/>
          <p:nvPr/>
        </p:nvSpPr>
        <p:spPr>
          <a:xfrm>
            <a:off x="5266944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4"/>
          <p:cNvSpPr/>
          <p:nvPr/>
        </p:nvSpPr>
        <p:spPr>
          <a:xfrm>
            <a:off x="5358384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7054596" y="374904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6"/>
          <p:cNvSpPr/>
          <p:nvPr/>
        </p:nvSpPr>
        <p:spPr>
          <a:xfrm>
            <a:off x="7054596" y="374904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7146036" y="374904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Engineering</a:t>
            </a:r>
            <a:endParaRPr lang="en-US" sz="700" dirty="0"/>
          </a:p>
        </p:txBody>
      </p:sp>
      <p:sp>
        <p:nvSpPr>
          <p:cNvPr id="53" name="Shape 48"/>
          <p:cNvSpPr/>
          <p:nvPr/>
        </p:nvSpPr>
        <p:spPr>
          <a:xfrm>
            <a:off x="1691640" y="411480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49"/>
          <p:cNvSpPr/>
          <p:nvPr/>
        </p:nvSpPr>
        <p:spPr>
          <a:xfrm>
            <a:off x="1691640" y="411480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0"/>
          <p:cNvSpPr/>
          <p:nvPr/>
        </p:nvSpPr>
        <p:spPr>
          <a:xfrm>
            <a:off x="1783080" y="411480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Enterprise &amp; Event Streaming</a:t>
            </a:r>
            <a:endParaRPr lang="en-US" sz="700" dirty="0"/>
          </a:p>
        </p:txBody>
      </p:sp>
      <p:sp>
        <p:nvSpPr>
          <p:cNvPr id="56" name="Shape 51"/>
          <p:cNvSpPr/>
          <p:nvPr/>
        </p:nvSpPr>
        <p:spPr>
          <a:xfrm>
            <a:off x="3479292" y="411480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2"/>
          <p:cNvSpPr/>
          <p:nvPr/>
        </p:nvSpPr>
        <p:spPr>
          <a:xfrm>
            <a:off x="3479292" y="411480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3"/>
          <p:cNvSpPr/>
          <p:nvPr/>
        </p:nvSpPr>
        <p:spPr>
          <a:xfrm>
            <a:off x="3570732" y="411480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Assets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5266944" y="4114800"/>
            <a:ext cx="1696212" cy="292608"/>
          </a:xfrm>
          <a:prstGeom prst="rect">
            <a:avLst/>
          </a:prstGeom>
          <a:solidFill>
            <a:srgbClr val="F5F5F5"/>
          </a:solidFill>
          <a:ln w="5080">
            <a:solidFill>
              <a:srgbClr val="E8E8E8"/>
            </a:solidFill>
            <a:prstDash val="solid"/>
          </a:ln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5"/>
          <p:cNvSpPr/>
          <p:nvPr/>
        </p:nvSpPr>
        <p:spPr>
          <a:xfrm>
            <a:off x="5266944" y="4114800"/>
            <a:ext cx="27432" cy="292608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6"/>
          <p:cNvSpPr/>
          <p:nvPr/>
        </p:nvSpPr>
        <p:spPr>
          <a:xfrm>
            <a:off x="5358384" y="4114800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&amp; Network Services</a:t>
            </a:r>
            <a:endParaRPr lang="en-US" sz="700" dirty="0"/>
          </a:p>
        </p:txBody>
      </p:sp>
      <p:sp>
        <p:nvSpPr>
          <p:cNvPr id="62" name="Shape 57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71E2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413</Words>
  <Application>Microsoft Macintosh PowerPoint</Application>
  <PresentationFormat>On-screen Show (16:9)</PresentationFormat>
  <Paragraphs>101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Framework - Executive Overview</dc:title>
  <dc:subject>PptxGenJS Presentation</dc:subject>
  <dc:creator>Aakash</dc:creator>
  <cp:lastModifiedBy>Aakash Tammana</cp:lastModifiedBy>
  <cp:revision>2</cp:revision>
  <dcterms:created xsi:type="dcterms:W3CDTF">2026-03-03T04:02:25Z</dcterms:created>
  <dcterms:modified xsi:type="dcterms:W3CDTF">2026-03-03T04:04:52Z</dcterms:modified>
</cp:coreProperties>
</file>