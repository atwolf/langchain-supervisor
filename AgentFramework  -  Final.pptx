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18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We Built the Agent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21792"/>
            <a:ext cx="804672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987552"/>
            <a:ext cx="1920240" cy="804672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6576" cy="80467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0972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38988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of disconnected chatbot UIs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87752" y="987552"/>
            <a:ext cx="1920240" cy="804672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87752" y="987552"/>
            <a:ext cx="36576" cy="80467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109728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138988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as teams struggle to reach developer communities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26864" y="987552"/>
            <a:ext cx="1920240" cy="804672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26864" y="987552"/>
            <a:ext cx="36576" cy="80467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09728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36592" y="138988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delays from high support SLAs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665976" y="987552"/>
            <a:ext cx="1920240" cy="804672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665976" y="987552"/>
            <a:ext cx="36576" cy="80467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09728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75704" y="138988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solution despite shared needs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548640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828800" y="1938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current agents' service teams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548640" y="2176272"/>
            <a:ext cx="8046720" cy="932688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30428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2231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~200</a:t>
            </a: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tickets/wk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1097280" y="26151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flowing through copilot support alone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3319272" y="2286000"/>
            <a:ext cx="0" cy="713232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2304288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776472" y="2231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~14</a:t>
            </a: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hrs/wk</a:t>
            </a:r>
            <a:endParaRPr lang="en-US" sz="2800" dirty="0"/>
          </a:p>
        </p:txBody>
      </p:sp>
      <p:sp>
        <p:nvSpPr>
          <p:cNvPr id="31" name="Text 23"/>
          <p:cNvSpPr/>
          <p:nvPr/>
        </p:nvSpPr>
        <p:spPr>
          <a:xfrm>
            <a:off x="3776472" y="26151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service team on manual support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5998464" y="2286000"/>
            <a:ext cx="0" cy="713232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344" y="2304288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455664" y="2231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60%</a:t>
            </a:r>
            <a:endParaRPr lang="en-US" sz="2800" dirty="0"/>
          </a:p>
        </p:txBody>
      </p:sp>
      <p:sp>
        <p:nvSpPr>
          <p:cNvPr id="35" name="Text 26"/>
          <p:cNvSpPr/>
          <p:nvPr/>
        </p:nvSpPr>
        <p:spPr>
          <a:xfrm>
            <a:off x="6455664" y="26151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support volume is routine, yet still requires human response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548640" y="3255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548640" y="3493008"/>
            <a:ext cx="256032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548640" y="4507992"/>
            <a:ext cx="256032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" y="3639312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60704" y="362102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Framework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1060704" y="395020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unified framework replacing fragmented chatbot solutions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3246120" y="3493008"/>
            <a:ext cx="256032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3"/>
          <p:cNvSpPr/>
          <p:nvPr/>
        </p:nvSpPr>
        <p:spPr>
          <a:xfrm>
            <a:off x="3246120" y="4507992"/>
            <a:ext cx="256032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2424" y="3639312"/>
            <a:ext cx="274320" cy="27432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758184" y="362102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3758184" y="395020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support by routing queries to specialized sub-agents</a:t>
            </a:r>
            <a:endParaRPr lang="en-US" sz="850" dirty="0"/>
          </a:p>
        </p:txBody>
      </p:sp>
      <p:sp>
        <p:nvSpPr>
          <p:cNvPr id="47" name="Shape 36"/>
          <p:cNvSpPr/>
          <p:nvPr/>
        </p:nvSpPr>
        <p:spPr>
          <a:xfrm>
            <a:off x="5943600" y="3493008"/>
            <a:ext cx="256032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5943600" y="4507992"/>
            <a:ext cx="256032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9904" y="3639312"/>
            <a:ext cx="274320" cy="27432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455664" y="362102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Domain Coverage</a:t>
            </a:r>
            <a:endParaRPr lang="en-US" sz="1100" dirty="0"/>
          </a:p>
        </p:txBody>
      </p:sp>
      <p:sp>
        <p:nvSpPr>
          <p:cNvPr id="51" name="Text 39"/>
          <p:cNvSpPr/>
          <p:nvPr/>
        </p:nvSpPr>
        <p:spPr>
          <a:xfrm>
            <a:off x="6455664" y="395020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developers where they work; LB Services live, DCMS + 13 use cases active</a:t>
            </a:r>
            <a:endParaRPr lang="en-US" sz="850" dirty="0"/>
          </a:p>
        </p:txBody>
      </p:sp>
      <p:sp>
        <p:nvSpPr>
          <p:cNvPr id="52" name="Text 40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trigger agents directly from their development environment</a:t>
            </a:r>
            <a:endParaRPr lang="en-US" sz="800" dirty="0"/>
          </a:p>
        </p:txBody>
      </p:sp>
      <p:sp>
        <p:nvSpPr>
          <p:cNvPr id="53" name="Shape 4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High-Level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85216"/>
            <a:ext cx="804672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219456"/>
            <a:ext cx="91440" cy="91440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86016" y="182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Team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955280" y="219456"/>
            <a:ext cx="91440" cy="9144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83296" y="182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65760" y="713232"/>
            <a:ext cx="1554480" cy="73152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713232"/>
            <a:ext cx="1554480" cy="2743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0467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78638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75488" y="102412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IDP Web UI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75488" y="124358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Agent Registry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194560" y="713232"/>
            <a:ext cx="256032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71E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194560" y="713232"/>
            <a:ext cx="2560320" cy="41148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804672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05456" y="78638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2304288" y="102412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Supervisor Agent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2304288" y="124358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Query routing &amp; sub-agent dispatch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2304288" y="146304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Instrumentation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5029200" y="713232"/>
            <a:ext cx="37033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029200" y="713232"/>
            <a:ext cx="3703320" cy="27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804672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40096" y="786384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5138928" y="1024128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Domain-specific tools managed by service teams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5138928" y="1243584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Database access, application APIs, documentation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5138928" y="1463040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Each MCP implements predefined auth patterns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365760" y="1975104"/>
            <a:ext cx="1554480" cy="6949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365760" y="1975104"/>
            <a:ext cx="1554480" cy="27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66544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6656" y="204825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475488" y="228600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Ingestion Service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475488" y="250545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Vector Store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2651760" y="2066544"/>
            <a:ext cx="1645920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2651760" y="2066544"/>
            <a:ext cx="1645920" cy="2743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157984"/>
            <a:ext cx="164592" cy="16459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2944368" y="21214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2944368" y="228600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5029200" y="1975104"/>
            <a:ext cx="3703320" cy="6949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5029200" y="1975104"/>
            <a:ext cx="3703320" cy="2743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2066544"/>
            <a:ext cx="182880" cy="1828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340096" y="2048256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44" name="Text 36"/>
          <p:cNvSpPr/>
          <p:nvPr/>
        </p:nvSpPr>
        <p:spPr>
          <a:xfrm>
            <a:off x="5138928" y="2286000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Quality &amp; hallucination evaluation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5138928" y="2505456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Usage tracking &amp; cost visibility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1920240" y="1078992"/>
            <a:ext cx="274320" cy="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4754880" y="1216152"/>
            <a:ext cx="274320" cy="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3474720" y="1719072"/>
            <a:ext cx="0" cy="347472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2194560" y="1719072"/>
            <a:ext cx="0" cy="256032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4754880" y="1719072"/>
            <a:ext cx="274320" cy="256032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365760" y="2889504"/>
            <a:ext cx="8366760" cy="841248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4"/>
          <p:cNvSpPr/>
          <p:nvPr/>
        </p:nvSpPr>
        <p:spPr>
          <a:xfrm>
            <a:off x="365760" y="2889504"/>
            <a:ext cx="45720" cy="841248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/>
          <p:nvPr/>
        </p:nvSpPr>
        <p:spPr>
          <a:xfrm>
            <a:off x="548640" y="29443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&amp;  AUTH  FLOW</a:t>
            </a:r>
            <a:endParaRPr lang="en-US" sz="700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273552"/>
            <a:ext cx="219456" cy="219456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429768" y="3511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6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4480" y="3273552"/>
            <a:ext cx="219456" cy="219456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1389888" y="3511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UI</a:t>
            </a:r>
            <a:endParaRPr lang="en-US" sz="6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14600" y="3273552"/>
            <a:ext cx="219456" cy="219456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2350008" y="3511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Ping</a:t>
            </a:r>
            <a:endParaRPr lang="en-US" sz="600" dirty="0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4720" y="3273552"/>
            <a:ext cx="219456" cy="219456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3310128" y="3511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Client</a:t>
            </a:r>
            <a:endParaRPr lang="en-US" sz="600" dirty="0"/>
          </a:p>
        </p:txBody>
      </p:sp>
      <p:sp>
        <p:nvSpPr>
          <p:cNvPr id="62" name="Shape 50"/>
          <p:cNvSpPr/>
          <p:nvPr/>
        </p:nvSpPr>
        <p:spPr>
          <a:xfrm>
            <a:off x="868680" y="3364992"/>
            <a:ext cx="630936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1"/>
          <p:cNvSpPr/>
          <p:nvPr/>
        </p:nvSpPr>
        <p:spPr>
          <a:xfrm>
            <a:off x="1828800" y="3364992"/>
            <a:ext cx="630936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2"/>
          <p:cNvSpPr/>
          <p:nvPr/>
        </p:nvSpPr>
        <p:spPr>
          <a:xfrm>
            <a:off x="2788920" y="3364992"/>
            <a:ext cx="630936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3"/>
          <p:cNvSpPr/>
          <p:nvPr/>
        </p:nvSpPr>
        <p:spPr>
          <a:xfrm>
            <a:off x="4315968" y="3145536"/>
            <a:ext cx="0" cy="493776"/>
          </a:xfrm>
          <a:prstGeom prst="line">
            <a:avLst/>
          </a:prstGeom>
          <a:noFill/>
          <a:ln w="5080">
            <a:solidFill>
              <a:srgbClr val="F57F1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4"/>
          <p:cNvSpPr/>
          <p:nvPr/>
        </p:nvSpPr>
        <p:spPr>
          <a:xfrm>
            <a:off x="4526280" y="29443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AGENT-SIDE  IDENTITY</a:t>
            </a:r>
            <a:endParaRPr lang="en-US" sz="700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3273552"/>
            <a:ext cx="219456" cy="219456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4407408" y="3511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00" dirty="0"/>
          </a:p>
        </p:txBody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7840" y="3273552"/>
            <a:ext cx="219456" cy="219456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5413248" y="3511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00" dirty="0"/>
          </a:p>
        </p:txBody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0" y="3273552"/>
            <a:ext cx="219456" cy="219456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6419088" y="3511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Pattern</a:t>
            </a:r>
            <a:endParaRPr lang="en-US" sz="600" dirty="0"/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9520" y="3273552"/>
            <a:ext cx="219456" cy="219456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7424928" y="35112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600" dirty="0"/>
          </a:p>
        </p:txBody>
      </p:sp>
      <p:sp>
        <p:nvSpPr>
          <p:cNvPr id="75" name="Shape 59"/>
          <p:cNvSpPr/>
          <p:nvPr/>
        </p:nvSpPr>
        <p:spPr>
          <a:xfrm>
            <a:off x="4846320" y="3364992"/>
            <a:ext cx="676656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0"/>
          <p:cNvSpPr/>
          <p:nvPr/>
        </p:nvSpPr>
        <p:spPr>
          <a:xfrm>
            <a:off x="5852160" y="3364992"/>
            <a:ext cx="676656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61"/>
          <p:cNvSpPr/>
          <p:nvPr/>
        </p:nvSpPr>
        <p:spPr>
          <a:xfrm>
            <a:off x="6858000" y="3364992"/>
            <a:ext cx="676656" cy="0"/>
          </a:xfrm>
          <a:prstGeom prst="line">
            <a:avLst/>
          </a:prstGeom>
          <a:noFill/>
          <a:ln w="15240">
            <a:solidFill>
              <a:srgbClr val="F57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62"/>
          <p:cNvSpPr/>
          <p:nvPr/>
        </p:nvSpPr>
        <p:spPr>
          <a:xfrm>
            <a:off x="365760" y="3968496"/>
            <a:ext cx="8366760" cy="34747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63"/>
          <p:cNvSpPr/>
          <p:nvPr/>
        </p:nvSpPr>
        <p:spPr>
          <a:xfrm>
            <a:off x="548640" y="39684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PRODUCTION:  </a:t>
            </a: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Agent (LB FAQs)  |  Orchestra Knowledge Agent (Copilot Proxies, CI/CD, Framework)</a:t>
            </a:r>
            <a:endParaRPr lang="en-US" sz="800" dirty="0"/>
          </a:p>
        </p:txBody>
      </p:sp>
      <p:sp>
        <p:nvSpPr>
          <p:cNvPr id="80" name="Shape 6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85216"/>
            <a:ext cx="804672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91640" y="731520"/>
            <a:ext cx="2304288" cy="3200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8229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39112" y="8046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39112" y="10058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capabilities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069080" y="731520"/>
            <a:ext cx="2304288" cy="32004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8229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16552" y="8046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416552" y="10058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priorities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6446520" y="731520"/>
            <a:ext cx="2304288" cy="32004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82296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93992" y="8046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793992" y="10058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457200" y="1207008"/>
            <a:ext cx="8293608" cy="0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57200" y="1243584"/>
            <a:ext cx="8293608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30352" y="1243584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650" dirty="0"/>
          </a:p>
        </p:txBody>
      </p:sp>
      <p:sp>
        <p:nvSpPr>
          <p:cNvPr id="20" name="Shape 15"/>
          <p:cNvSpPr/>
          <p:nvPr/>
        </p:nvSpPr>
        <p:spPr>
          <a:xfrm>
            <a:off x="1655064" y="1243584"/>
            <a:ext cx="0" cy="566928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746504" y="131673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Enriched UI with source citations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Image upload support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123944" y="131673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SNS support through IDP Chat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6501384" y="131673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Conversation history &amp; resume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457200" y="1810512"/>
            <a:ext cx="8293608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30352" y="1810512"/>
            <a:ext cx="10424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1655064" y="1810512"/>
            <a:ext cx="0" cy="768096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1746504" y="1883664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Confluence document ingestion &amp; search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Simplified agent onboarding workflow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4123944" y="1883664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OIDC / RBAC authentication for MCPs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Self-service onboarding refinements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Observability dashboards for service providers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6501384" y="1883664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Self-service portal for service providers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Multi-format ingestion (SharePoint, PDF) via ECM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457200" y="2578608"/>
            <a:ext cx="8293608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57200" y="2578608"/>
            <a:ext cx="8293608" cy="96926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530352" y="2578608"/>
            <a:ext cx="1042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FRAMEWORK</a:t>
            </a:r>
            <a:endParaRPr lang="en-US" sz="650" dirty="0"/>
          </a:p>
        </p:txBody>
      </p:sp>
      <p:sp>
        <p:nvSpPr>
          <p:cNvPr id="33" name="Shape 28"/>
          <p:cNvSpPr/>
          <p:nvPr/>
        </p:nvSpPr>
        <p:spPr>
          <a:xfrm>
            <a:off x="1655064" y="2578608"/>
            <a:ext cx="0" cy="969264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1746504" y="2651760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Supervisor Agent orchestration &amp; routing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LB FAQs Agent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DevX Agent (Copilot, CI/CD, Framework)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DCMS Agent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4123944" y="2651760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Evaluation Pipeline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Subagent-level metrics dashboard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 &amp; user context-aware agents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Observability Framework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6501384" y="2651760"/>
            <a:ext cx="2176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Action-enabled agents (write-back capabilities)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Cross-agent knowledge sharing</a:t>
            </a:r>
            <a:endParaRPr lang="en-US" sz="7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library &amp; reusable agent templates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032504" y="731520"/>
            <a:ext cx="0" cy="283464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409944" y="731520"/>
            <a:ext cx="0" cy="283464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530352" y="3712464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65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6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5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6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5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650" dirty="0"/>
          </a:p>
        </p:txBody>
      </p:sp>
      <p:sp>
        <p:nvSpPr>
          <p:cNvPr id="40" name="Shape 35"/>
          <p:cNvSpPr/>
          <p:nvPr/>
        </p:nvSpPr>
        <p:spPr>
          <a:xfrm>
            <a:off x="1655064" y="3694176"/>
            <a:ext cx="0" cy="749808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1691640" y="3749040"/>
            <a:ext cx="1696212" cy="292608"/>
          </a:xfrm>
          <a:prstGeom prst="rect">
            <a:avLst/>
          </a:prstGeom>
          <a:solidFill>
            <a:srgbClr val="F5F5F5"/>
          </a:solidFill>
          <a:ln w="508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1691640" y="3749040"/>
            <a:ext cx="27432" cy="2926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1783080" y="3749040"/>
            <a:ext cx="1549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DCMS NFR &amp; Migration</a:t>
            </a:r>
            <a:endParaRPr lang="en-US" sz="700" dirty="0"/>
          </a:p>
        </p:txBody>
      </p:sp>
      <p:sp>
        <p:nvSpPr>
          <p:cNvPr id="44" name="Shape 39"/>
          <p:cNvSpPr/>
          <p:nvPr/>
        </p:nvSpPr>
        <p:spPr>
          <a:xfrm>
            <a:off x="3479292" y="3749040"/>
            <a:ext cx="1696212" cy="292608"/>
          </a:xfrm>
          <a:prstGeom prst="rect">
            <a:avLst/>
          </a:prstGeom>
          <a:solidFill>
            <a:srgbClr val="F5F5F5"/>
          </a:solidFill>
          <a:ln w="508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3479292" y="3749040"/>
            <a:ext cx="27432" cy="2926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3570732" y="3749040"/>
            <a:ext cx="1549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Service</a:t>
            </a:r>
            <a:endParaRPr lang="en-US" sz="700" dirty="0"/>
          </a:p>
        </p:txBody>
      </p:sp>
      <p:sp>
        <p:nvSpPr>
          <p:cNvPr id="47" name="Shape 42"/>
          <p:cNvSpPr/>
          <p:nvPr/>
        </p:nvSpPr>
        <p:spPr>
          <a:xfrm>
            <a:off x="5266944" y="3749040"/>
            <a:ext cx="1696212" cy="292608"/>
          </a:xfrm>
          <a:prstGeom prst="rect">
            <a:avLst/>
          </a:prstGeom>
          <a:solidFill>
            <a:srgbClr val="F5F5F5"/>
          </a:solidFill>
          <a:ln w="508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5266944" y="3749040"/>
            <a:ext cx="27432" cy="2926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5358384" y="3749040"/>
            <a:ext cx="1549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7054596" y="3749040"/>
            <a:ext cx="1696212" cy="292608"/>
          </a:xfrm>
          <a:prstGeom prst="rect">
            <a:avLst/>
          </a:prstGeom>
          <a:solidFill>
            <a:srgbClr val="F5F5F5"/>
          </a:solidFill>
          <a:ln w="508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6"/>
          <p:cNvSpPr/>
          <p:nvPr/>
        </p:nvSpPr>
        <p:spPr>
          <a:xfrm>
            <a:off x="7054596" y="3749040"/>
            <a:ext cx="27432" cy="2926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7146036" y="3749040"/>
            <a:ext cx="1549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Engineering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1691640" y="4114800"/>
            <a:ext cx="1696212" cy="292608"/>
          </a:xfrm>
          <a:prstGeom prst="rect">
            <a:avLst/>
          </a:prstGeom>
          <a:solidFill>
            <a:srgbClr val="F5F5F5"/>
          </a:solidFill>
          <a:ln w="508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9"/>
          <p:cNvSpPr/>
          <p:nvPr/>
        </p:nvSpPr>
        <p:spPr>
          <a:xfrm>
            <a:off x="1691640" y="4114800"/>
            <a:ext cx="27432" cy="2926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1783080" y="4114800"/>
            <a:ext cx="1549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Enterprise &amp; Event Streaming</a:t>
            </a:r>
            <a:endParaRPr lang="en-US" sz="700" dirty="0"/>
          </a:p>
        </p:txBody>
      </p:sp>
      <p:sp>
        <p:nvSpPr>
          <p:cNvPr id="56" name="Shape 51"/>
          <p:cNvSpPr/>
          <p:nvPr/>
        </p:nvSpPr>
        <p:spPr>
          <a:xfrm>
            <a:off x="3479292" y="4114800"/>
            <a:ext cx="1696212" cy="292608"/>
          </a:xfrm>
          <a:prstGeom prst="rect">
            <a:avLst/>
          </a:prstGeom>
          <a:solidFill>
            <a:srgbClr val="F5F5F5"/>
          </a:solidFill>
          <a:ln w="508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2"/>
          <p:cNvSpPr/>
          <p:nvPr/>
        </p:nvSpPr>
        <p:spPr>
          <a:xfrm>
            <a:off x="3479292" y="4114800"/>
            <a:ext cx="27432" cy="2926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3"/>
          <p:cNvSpPr/>
          <p:nvPr/>
        </p:nvSpPr>
        <p:spPr>
          <a:xfrm>
            <a:off x="3570732" y="4114800"/>
            <a:ext cx="1549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Assets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5266944" y="4114800"/>
            <a:ext cx="1696212" cy="292608"/>
          </a:xfrm>
          <a:prstGeom prst="rect">
            <a:avLst/>
          </a:prstGeom>
          <a:solidFill>
            <a:srgbClr val="F5F5F5"/>
          </a:solidFill>
          <a:ln w="508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5"/>
          <p:cNvSpPr/>
          <p:nvPr/>
        </p:nvSpPr>
        <p:spPr>
          <a:xfrm>
            <a:off x="5266944" y="4114800"/>
            <a:ext cx="27432" cy="2926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5358384" y="4114800"/>
            <a:ext cx="1549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&amp; Network Services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85216"/>
            <a:ext cx="804672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PROVIDER  ONBOARDING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243584" cy="27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" y="14264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162763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team submits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proposal &amp; use case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176272" y="1371600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76272" y="1371600"/>
            <a:ext cx="1243584" cy="27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31136" y="14264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31136" y="162763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Dual-gate review: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functional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712464" y="1371600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12464" y="1371600"/>
            <a:ext cx="1243584" cy="27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67328" y="14264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67328" y="162763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approved for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into framework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248656" y="1371600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48656" y="1371600"/>
            <a:ext cx="1243584" cy="27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0" y="14264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162763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documentation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paths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784848" y="1371600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84848" y="1371600"/>
            <a:ext cx="1243584" cy="27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39712" y="14264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39712" y="162763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hallucination &amp;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validation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920240" y="1627632"/>
            <a:ext cx="219456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56432" y="1627632"/>
            <a:ext cx="219456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92624" y="1627632"/>
            <a:ext cx="219456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28816" y="1627632"/>
            <a:ext cx="219456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98064" y="1883664"/>
            <a:ext cx="0" cy="91440"/>
          </a:xfrm>
          <a:prstGeom prst="line">
            <a:avLst/>
          </a:prstGeom>
          <a:noFill/>
          <a:ln w="6350">
            <a:solidFill>
              <a:srgbClr val="E8E8E8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76272" y="1975104"/>
            <a:ext cx="566928" cy="128016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508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76272" y="19751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2752344" y="2039112"/>
            <a:ext cx="91440" cy="0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52928" y="1975104"/>
            <a:ext cx="566928" cy="128016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508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52928" y="197510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5870448" y="1883664"/>
            <a:ext cx="0" cy="91440"/>
          </a:xfrm>
          <a:prstGeom prst="line">
            <a:avLst/>
          </a:prstGeom>
          <a:noFill/>
          <a:ln w="6350">
            <a:solidFill>
              <a:srgbClr val="E8E8E8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48656" y="19751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5504688" y="1975104"/>
            <a:ext cx="256032" cy="128016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508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04688" y="19751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5769864" y="2039112"/>
            <a:ext cx="91440" cy="0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70448" y="1975104"/>
            <a:ext cx="256032" cy="128016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508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70448" y="19751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6135624" y="2039112"/>
            <a:ext cx="91440" cy="0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36208" y="1975104"/>
            <a:ext cx="256032" cy="128016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508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36208" y="19751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5248656" y="21579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5504688" y="2157984"/>
            <a:ext cx="256032" cy="128016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508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04688" y="21579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5769864" y="2221992"/>
            <a:ext cx="91440" cy="0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870448" y="2157984"/>
            <a:ext cx="256032" cy="128016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508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70448" y="21579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6135624" y="2221992"/>
            <a:ext cx="91440" cy="0"/>
          </a:xfrm>
          <a:prstGeom prst="line">
            <a:avLst/>
          </a:prstGeom>
          <a:noFill/>
          <a:ln w="7620">
            <a:solidFill>
              <a:srgbClr val="BDBD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36208" y="2157984"/>
            <a:ext cx="256032" cy="128016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508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36208" y="21579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2450592" y="1371600"/>
            <a:ext cx="0" cy="0"/>
          </a:xfrm>
          <a:prstGeom prst="line">
            <a:avLst/>
          </a:prstGeom>
          <a:noFill/>
          <a:ln w="10160">
            <a:solidFill>
              <a:srgbClr val="EF53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261872" y="1207008"/>
            <a:ext cx="1188720" cy="0"/>
          </a:xfrm>
          <a:prstGeom prst="line">
            <a:avLst/>
          </a:prstGeom>
          <a:noFill/>
          <a:ln w="10160">
            <a:solidFill>
              <a:srgbClr val="EF53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261872" y="1207008"/>
            <a:ext cx="0" cy="164592"/>
          </a:xfrm>
          <a:prstGeom prst="line">
            <a:avLst/>
          </a:prstGeom>
          <a:noFill/>
          <a:ln w="10160">
            <a:solidFill>
              <a:srgbClr val="EF535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298448" y="108813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7655357" y="1371600"/>
            <a:ext cx="0" cy="0"/>
          </a:xfrm>
          <a:prstGeom prst="line">
            <a:avLst/>
          </a:prstGeom>
          <a:noFill/>
          <a:ln w="10160">
            <a:solidFill>
              <a:srgbClr val="F57F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046781" y="1060704"/>
            <a:ext cx="4608576" cy="0"/>
          </a:xfrm>
          <a:prstGeom prst="line">
            <a:avLst/>
          </a:prstGeom>
          <a:noFill/>
          <a:ln w="10160">
            <a:solidFill>
              <a:srgbClr val="F57F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046781" y="1060704"/>
            <a:ext cx="0" cy="310896"/>
          </a:xfrm>
          <a:prstGeom prst="line">
            <a:avLst/>
          </a:prstGeom>
          <a:noFill/>
          <a:ln w="10160">
            <a:solidFill>
              <a:srgbClr val="F57F17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939589" y="93268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48640" y="2596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 JOURNEY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40080" y="2852928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40080" y="2852928"/>
            <a:ext cx="1243584" cy="2743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94944" y="29077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94944" y="31089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via IDP;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propagated to agent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176272" y="2852928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176272" y="2852928"/>
            <a:ext cx="1243584" cy="2743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231136" y="29077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231136" y="31089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poses question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natural language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712464" y="2852928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712464" y="2852928"/>
            <a:ext cx="1243584" cy="2743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767328" y="29077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67328" y="31089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routes to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sub-agent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5248656" y="2852928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248656" y="2852928"/>
            <a:ext cx="1243584" cy="2743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303520" y="29077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303520" y="31089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MCPs,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knowledge base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784848" y="2852928"/>
            <a:ext cx="1243584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784848" y="2852928"/>
            <a:ext cx="1243584" cy="27432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839712" y="29077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839712" y="31089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answer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 citations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920240" y="3108960"/>
            <a:ext cx="219456" cy="0"/>
          </a:xfrm>
          <a:prstGeom prst="line">
            <a:avLst/>
          </a:prstGeom>
          <a:noFill/>
          <a:ln w="12700">
            <a:solidFill>
              <a:srgbClr val="D71E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456432" y="3108960"/>
            <a:ext cx="219456" cy="0"/>
          </a:xfrm>
          <a:prstGeom prst="line">
            <a:avLst/>
          </a:prstGeom>
          <a:noFill/>
          <a:ln w="12700">
            <a:solidFill>
              <a:srgbClr val="D71E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992624" y="3108960"/>
            <a:ext cx="219456" cy="0"/>
          </a:xfrm>
          <a:prstGeom prst="line">
            <a:avLst/>
          </a:prstGeom>
          <a:noFill/>
          <a:ln w="12700">
            <a:solidFill>
              <a:srgbClr val="D71E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528816" y="3108960"/>
            <a:ext cx="219456" cy="0"/>
          </a:xfrm>
          <a:prstGeom prst="line">
            <a:avLst/>
          </a:prstGeom>
          <a:noFill/>
          <a:ln w="12700">
            <a:solidFill>
              <a:srgbClr val="D71E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7406640" y="3364992"/>
            <a:ext cx="0" cy="128016"/>
          </a:xfrm>
          <a:prstGeom prst="line">
            <a:avLst/>
          </a:prstGeom>
          <a:noFill/>
          <a:ln w="10160">
            <a:solidFill>
              <a:srgbClr val="BDBDB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798064" y="3493008"/>
            <a:ext cx="4608576" cy="0"/>
          </a:xfrm>
          <a:prstGeom prst="line">
            <a:avLst/>
          </a:prstGeom>
          <a:noFill/>
          <a:ln w="10160">
            <a:solidFill>
              <a:srgbClr val="BDBDB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798064" y="3493008"/>
            <a:ext cx="0" cy="0"/>
          </a:xfrm>
          <a:prstGeom prst="line">
            <a:avLst/>
          </a:prstGeom>
          <a:noFill/>
          <a:ln w="10160">
            <a:solidFill>
              <a:srgbClr val="BDBDBD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736592" y="350215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Macintosh PowerPoint</Application>
  <PresentationFormat>On-screen Show (16:9)</PresentationFormat>
  <Paragraphs>147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Framework - Executive Overview</dc:title>
  <dc:subject>PptxGenJS Presentation</dc:subject>
  <dc:creator>Aakash</dc:creator>
  <cp:lastModifiedBy>Aakash Tammana</cp:lastModifiedBy>
  <cp:revision>2</cp:revision>
  <dcterms:created xsi:type="dcterms:W3CDTF">2026-03-05T05:29:16Z</dcterms:created>
  <dcterms:modified xsi:type="dcterms:W3CDTF">2026-03-05T05:33:41Z</dcterms:modified>
</cp:coreProperties>
</file>